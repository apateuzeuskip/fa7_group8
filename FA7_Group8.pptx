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Bold" charset="1" panose="02040802050405020203"/>
      <p:regular r:id="rId16"/>
    </p:embeddedFont>
    <p:embeddedFont>
      <p:font typeface="Calibri (MS)" charset="1" panose="020F0502020204030204"/>
      <p:regular r:id="rId17"/>
    </p:embeddedFont>
    <p:embeddedFont>
      <p:font typeface="Calibri (MS) Bold" charset="1" panose="020F0702030404030204"/>
      <p:regular r:id="rId18"/>
    </p:embeddedFont>
    <p:embeddedFont>
      <p:font typeface="Calibri (MS) Italics" charset="1" panose="020F05020202040A0204"/>
      <p:regular r:id="rId19"/>
    </p:embeddedFont>
    <p:embeddedFont>
      <p:font typeface="Georgia" charset="1" panose="0204050205040502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7463" y="2821943"/>
            <a:ext cx="1671323" cy="171707"/>
            <a:chOff x="0" y="0"/>
            <a:chExt cx="222843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8469" cy="228981"/>
            </a:xfrm>
            <a:custGeom>
              <a:avLst/>
              <a:gdLst/>
              <a:ahLst/>
              <a:cxnLst/>
              <a:rect r="r" b="b" t="t" l="l"/>
              <a:pathLst>
                <a:path h="228981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280160" y="3272790"/>
            <a:ext cx="14996160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How Long Do Students Stay in the Library?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80160" y="6217920"/>
            <a:ext cx="14630400" cy="731520"/>
            <a:chOff x="0" y="0"/>
            <a:chExt cx="195072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5072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C9D6E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normal distribution study of time spent per library visit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0160" y="8663759"/>
            <a:ext cx="14630400" cy="480241"/>
            <a:chOff x="0" y="0"/>
            <a:chExt cx="19507200" cy="640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640322"/>
            </a:xfrm>
            <a:custGeom>
              <a:avLst/>
              <a:gdLst/>
              <a:ahLst/>
              <a:cxnLst/>
              <a:rect r="r" b="b" t="t" l="l"/>
              <a:pathLst>
                <a:path h="64032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40322"/>
                  </a:lnTo>
                  <a:lnTo>
                    <a:pt x="0" y="640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6484" r="0" b="-55072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507200" cy="678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2A5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APM-1110</a:t>
              </a:r>
              <a:r>
                <a:rPr lang="en-US" sz="2400">
                  <a:solidFill>
                    <a:srgbClr val="F2A5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|  Group Project  |  n = 50 students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Variable and Method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we measured and how we collected 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2821943"/>
            <a:ext cx="7797803" cy="2951483"/>
            <a:chOff x="0" y="0"/>
            <a:chExt cx="10397071" cy="3935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97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3143" y="2821943"/>
            <a:ext cx="171707" cy="2951483"/>
            <a:chOff x="0" y="0"/>
            <a:chExt cx="228943" cy="3935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981" cy="3935349"/>
            </a:xfrm>
            <a:custGeom>
              <a:avLst/>
              <a:gdLst/>
              <a:ahLst/>
              <a:cxnLst/>
              <a:rect r="r" b="b" t="t" l="l"/>
              <a:pathLst>
                <a:path h="39353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54480" y="3108960"/>
            <a:ext cx="6949440" cy="731520"/>
            <a:chOff x="0" y="0"/>
            <a:chExt cx="926592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26592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variable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54480" y="3874770"/>
            <a:ext cx="694944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Minutes a student spends inside the school library on an average visit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22743" y="2821943"/>
            <a:ext cx="7797803" cy="2951483"/>
            <a:chOff x="0" y="0"/>
            <a:chExt cx="10397071" cy="39353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97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222743" y="2821943"/>
            <a:ext cx="171707" cy="2951483"/>
            <a:chOff x="0" y="0"/>
            <a:chExt cx="228943" cy="3935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981" cy="3935349"/>
            </a:xfrm>
            <a:custGeom>
              <a:avLst/>
              <a:gdLst/>
              <a:ahLst/>
              <a:cxnLst/>
              <a:rect r="r" b="b" t="t" l="l"/>
              <a:pathLst>
                <a:path h="39353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84080" y="3108960"/>
            <a:ext cx="6949440" cy="731520"/>
            <a:chOff x="0" y="0"/>
            <a:chExt cx="926592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26592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sample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784080" y="3874770"/>
            <a:ext cx="694944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50 students across 1st–4th year, collected through an online survey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3143" y="6113783"/>
            <a:ext cx="7797803" cy="2951483"/>
            <a:chOff x="0" y="0"/>
            <a:chExt cx="10397071" cy="3935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97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93143" y="6113783"/>
            <a:ext cx="171707" cy="2951483"/>
            <a:chOff x="0" y="0"/>
            <a:chExt cx="228943" cy="39353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981" cy="3935349"/>
            </a:xfrm>
            <a:custGeom>
              <a:avLst/>
              <a:gdLst/>
              <a:ahLst/>
              <a:cxnLst/>
              <a:rect r="r" b="b" t="t" l="l"/>
              <a:pathLst>
                <a:path h="39353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54480" y="6400800"/>
            <a:ext cx="6949440" cy="731520"/>
            <a:chOff x="0" y="0"/>
            <a:chExt cx="926592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26592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Ethical data collection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54480" y="7166610"/>
            <a:ext cx="694944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Voluntary responses; answers used only for this class project, no names reported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22743" y="6113783"/>
            <a:ext cx="7797803" cy="2951483"/>
            <a:chOff x="0" y="0"/>
            <a:chExt cx="10397071" cy="39353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397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222743" y="6113783"/>
            <a:ext cx="171707" cy="2951483"/>
            <a:chOff x="0" y="0"/>
            <a:chExt cx="228943" cy="39353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981" cy="3935349"/>
            </a:xfrm>
            <a:custGeom>
              <a:avLst/>
              <a:gdLst/>
              <a:ahLst/>
              <a:cxnLst/>
              <a:rect r="r" b="b" t="t" l="l"/>
              <a:pathLst>
                <a:path h="39353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784080" y="6400800"/>
            <a:ext cx="6949440" cy="731520"/>
            <a:chOff x="0" y="0"/>
            <a:chExt cx="926592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26592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 cleaning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784080" y="7166610"/>
            <a:ext cx="694944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Ranges such as "2–3 hrs" and "20–40" were converted to single minute values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Frequency Distribution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Minutes per visit grouped in 30-minute classes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05840" y="2560320"/>
          <a:ext cx="9474200" cy="6400800"/>
        </p:xfrm>
        <a:graphic>
          <a:graphicData uri="http://schemas.openxmlformats.org/drawingml/2006/table">
            <a:tbl>
              <a:tblPr/>
              <a:tblGrid>
                <a:gridCol w="3459313"/>
                <a:gridCol w="2736322"/>
                <a:gridCol w="3278565"/>
              </a:tblGrid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 (min)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Frequency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Relative freq.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0–30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31–60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61–90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91–120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121–150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151–180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181–210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211–240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241–270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271–300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1325863" y="2547623"/>
            <a:ext cx="5969003" cy="4048763"/>
            <a:chOff x="0" y="0"/>
            <a:chExt cx="7958671" cy="5398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58709" cy="5398389"/>
            </a:xfrm>
            <a:custGeom>
              <a:avLst/>
              <a:gdLst/>
              <a:ahLst/>
              <a:cxnLst/>
              <a:rect r="r" b="b" t="t" l="l"/>
              <a:pathLst>
                <a:path h="5398389" w="7958709">
                  <a:moveTo>
                    <a:pt x="0" y="0"/>
                  </a:moveTo>
                  <a:lnTo>
                    <a:pt x="7958709" y="0"/>
                  </a:lnTo>
                  <a:lnTo>
                    <a:pt x="7958709" y="5398389"/>
                  </a:lnTo>
                  <a:lnTo>
                    <a:pt x="0" y="5398389"/>
                  </a:ln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704320" y="2796540"/>
            <a:ext cx="5303520" cy="351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Most common class</a:t>
            </a:r>
          </a:p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2A541"/>
                </a:solidFill>
                <a:latin typeface="Georgia Bold"/>
                <a:ea typeface="Georgia Bold"/>
                <a:cs typeface="Georgia Bold"/>
                <a:sym typeface="Georgia Bold"/>
              </a:rPr>
              <a:t>1–30 min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15 of 50 students (30%) stay half an hour or less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6911340"/>
            <a:ext cx="59436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second, smaller group stays 2–3 hours, so the data has two clusters.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Histogram and Normal Curve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Bars = actual students, line = normal curve with μ = 93.3 and σ = 72.3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621792" y="841248"/>
            <a:ext cx="19531584" cy="1020470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39634" y="841248"/>
            <a:ext cx="19531584" cy="10204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Mean and Standard Deviation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two numbers that define our normal curve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2913383"/>
            <a:ext cx="5146043" cy="3317243"/>
            <a:chOff x="0" y="0"/>
            <a:chExt cx="6861391" cy="442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1429" cy="4423029"/>
            </a:xfrm>
            <a:custGeom>
              <a:avLst/>
              <a:gdLst/>
              <a:ahLst/>
              <a:cxnLst/>
              <a:rect r="r" b="b" t="t" l="l"/>
              <a:pathLst>
                <a:path h="44230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4423029"/>
                  </a:lnTo>
                  <a:lnTo>
                    <a:pt x="0" y="44230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3143" y="2913383"/>
            <a:ext cx="5146043" cy="189995"/>
            <a:chOff x="0" y="0"/>
            <a:chExt cx="6861391" cy="2533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429" cy="253365"/>
            </a:xfrm>
            <a:custGeom>
              <a:avLst/>
              <a:gdLst/>
              <a:ahLst/>
              <a:cxnLst/>
              <a:rect r="r" b="b" t="t" l="l"/>
              <a:pathLst>
                <a:path h="253365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253365"/>
                  </a:lnTo>
                  <a:lnTo>
                    <a:pt x="0" y="253365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3383280"/>
            <a:ext cx="5120640" cy="1463040"/>
            <a:chOff x="0" y="0"/>
            <a:chExt cx="682752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8275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93.3 min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4937760"/>
            <a:ext cx="5120640" cy="731520"/>
            <a:chOff x="0" y="0"/>
            <a:chExt cx="682752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(μ)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9543" y="2913383"/>
            <a:ext cx="5146043" cy="3317243"/>
            <a:chOff x="0" y="0"/>
            <a:chExt cx="6861391" cy="4422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1429" cy="4423029"/>
            </a:xfrm>
            <a:custGeom>
              <a:avLst/>
              <a:gdLst/>
              <a:ahLst/>
              <a:cxnLst/>
              <a:rect r="r" b="b" t="t" l="l"/>
              <a:pathLst>
                <a:path h="44230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4423029"/>
                  </a:lnTo>
                  <a:lnTo>
                    <a:pt x="0" y="44230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79543" y="2913383"/>
            <a:ext cx="5146043" cy="189995"/>
            <a:chOff x="0" y="0"/>
            <a:chExt cx="6861391" cy="2533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61429" cy="253365"/>
            </a:xfrm>
            <a:custGeom>
              <a:avLst/>
              <a:gdLst/>
              <a:ahLst/>
              <a:cxnLst/>
              <a:rect r="r" b="b" t="t" l="l"/>
              <a:pathLst>
                <a:path h="253365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253365"/>
                  </a:lnTo>
                  <a:lnTo>
                    <a:pt x="0" y="253365"/>
                  </a:ln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92240" y="3383280"/>
            <a:ext cx="5120640" cy="1463040"/>
            <a:chOff x="0" y="0"/>
            <a:chExt cx="6827520" cy="195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8275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72.3 min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92240" y="4937760"/>
            <a:ext cx="5120640" cy="731520"/>
            <a:chOff x="0" y="0"/>
            <a:chExt cx="682752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Std. deviation (σ)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65943" y="2913383"/>
            <a:ext cx="5146043" cy="3317243"/>
            <a:chOff x="0" y="0"/>
            <a:chExt cx="6861391" cy="4422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61429" cy="4423029"/>
            </a:xfrm>
            <a:custGeom>
              <a:avLst/>
              <a:gdLst/>
              <a:ahLst/>
              <a:cxnLst/>
              <a:rect r="r" b="b" t="t" l="l"/>
              <a:pathLst>
                <a:path h="44230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4423029"/>
                  </a:lnTo>
                  <a:lnTo>
                    <a:pt x="0" y="44230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965943" y="2913383"/>
            <a:ext cx="5146043" cy="189995"/>
            <a:chOff x="0" y="0"/>
            <a:chExt cx="6861391" cy="253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61429" cy="253365"/>
            </a:xfrm>
            <a:custGeom>
              <a:avLst/>
              <a:gdLst/>
              <a:ahLst/>
              <a:cxnLst/>
              <a:rect r="r" b="b" t="t" l="l"/>
              <a:pathLst>
                <a:path h="253365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253365"/>
                  </a:lnTo>
                  <a:lnTo>
                    <a:pt x="0" y="253365"/>
                  </a:ln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978640" y="3383280"/>
            <a:ext cx="5120640" cy="1463040"/>
            <a:chOff x="0" y="0"/>
            <a:chExt cx="682752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8275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60 min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978640" y="4937760"/>
            <a:ext cx="5120640" cy="731520"/>
            <a:chOff x="0" y="0"/>
            <a:chExt cx="682752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05840" y="6882765"/>
            <a:ext cx="1627632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average visit lasts about 93 minutes (1 h 33 min), but the typical student (median) stays only 60 minutes.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 σ of 72 minutes means visit lengths vary a lot from one student to another.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Empirical Rule: 68 – 95 – 99.7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 of our 50 students within 1σ, 2σ and 3σ of the mean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2639063"/>
            <a:ext cx="5146043" cy="4231643"/>
            <a:chOff x="0" y="0"/>
            <a:chExt cx="6861391" cy="56421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1429" cy="5642229"/>
            </a:xfrm>
            <a:custGeom>
              <a:avLst/>
              <a:gdLst/>
              <a:ahLst/>
              <a:cxnLst/>
              <a:rect r="r" b="b" t="t" l="l"/>
              <a:pathLst>
                <a:path h="56422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5642229"/>
                  </a:lnTo>
                  <a:lnTo>
                    <a:pt x="0" y="5642229"/>
                  </a:ln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2834640"/>
            <a:ext cx="4389120" cy="731520"/>
            <a:chOff x="0" y="0"/>
            <a:chExt cx="58521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8521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2A5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1σ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3566160"/>
            <a:ext cx="4389120" cy="1645920"/>
            <a:chOff x="0" y="0"/>
            <a:chExt cx="585216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8521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78%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71600" y="5173980"/>
            <a:ext cx="438912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21 – 166 min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Normal curve expects 68%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79543" y="2639063"/>
            <a:ext cx="5146043" cy="4231643"/>
            <a:chOff x="0" y="0"/>
            <a:chExt cx="6861391" cy="56421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61429" cy="5642229"/>
            </a:xfrm>
            <a:custGeom>
              <a:avLst/>
              <a:gdLst/>
              <a:ahLst/>
              <a:cxnLst/>
              <a:rect r="r" b="b" t="t" l="l"/>
              <a:pathLst>
                <a:path h="56422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5642229"/>
                  </a:lnTo>
                  <a:lnTo>
                    <a:pt x="0" y="5642229"/>
                  </a:ln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58000" y="2834640"/>
            <a:ext cx="4389120" cy="731520"/>
            <a:chOff x="0" y="0"/>
            <a:chExt cx="58521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8521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2A5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2σ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0" y="3566160"/>
            <a:ext cx="4389120" cy="1645920"/>
            <a:chOff x="0" y="0"/>
            <a:chExt cx="5852160" cy="219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8521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92%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58000" y="5173980"/>
            <a:ext cx="438912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0 – 238 min*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Normal curve expects 95%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965943" y="2639063"/>
            <a:ext cx="5146043" cy="4231643"/>
            <a:chOff x="0" y="0"/>
            <a:chExt cx="6861391" cy="56421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61429" cy="5642229"/>
            </a:xfrm>
            <a:custGeom>
              <a:avLst/>
              <a:gdLst/>
              <a:ahLst/>
              <a:cxnLst/>
              <a:rect r="r" b="b" t="t" l="l"/>
              <a:pathLst>
                <a:path h="564222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5642229"/>
                  </a:lnTo>
                  <a:lnTo>
                    <a:pt x="0" y="5642229"/>
                  </a:lnTo>
                  <a:close/>
                </a:path>
              </a:pathLst>
            </a:custGeom>
            <a:solidFill>
              <a:srgbClr val="14213D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0" y="2834640"/>
            <a:ext cx="4389120" cy="731520"/>
            <a:chOff x="0" y="0"/>
            <a:chExt cx="585216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8521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2A5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3σ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0" y="3566160"/>
            <a:ext cx="4389120" cy="1645920"/>
            <a:chOff x="0" y="0"/>
            <a:chExt cx="5852160" cy="2194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8521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100%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344400" y="5173980"/>
            <a:ext cx="438912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0 – 310 min*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6E2"/>
                </a:solidFill>
                <a:latin typeface="Calibri (MS)"/>
                <a:ea typeface="Calibri (MS)"/>
                <a:cs typeface="Calibri (MS)"/>
                <a:sym typeface="Calibri (MS)"/>
              </a:rPr>
              <a:t>Normal curve expects 99.7%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5840" y="7157085"/>
            <a:ext cx="1627632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Within 1σ our data is above the expected 68% (78%) and within 2σ it matches 95% closely (92%). All students fall within 3σ.</a:t>
            </a:r>
          </a:p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*The lower limits (μ − 2σ and μ − 3σ) are negative, so time cannot go below 0 minutes. This is a sign the data is not perfectly normal.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Interpreting the Distribution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it symmetric? Are there outliers? What does the shape mean?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2547623"/>
            <a:ext cx="7797803" cy="3134363"/>
            <a:chOff x="0" y="0"/>
            <a:chExt cx="10397071" cy="4179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97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2779776"/>
            <a:ext cx="7040880" cy="640080"/>
            <a:chOff x="0" y="0"/>
            <a:chExt cx="938784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3878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B7F7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Symmetric?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71600" y="3436620"/>
            <a:ext cx="704088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No. It is right-skewed (skewness ≈ 1.03). The mean (93 min) is higher than the median (60 min).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22743" y="2547623"/>
            <a:ext cx="7797803" cy="3134363"/>
            <a:chOff x="0" y="0"/>
            <a:chExt cx="10397071" cy="4179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97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0" y="2779776"/>
            <a:ext cx="7040880" cy="640080"/>
            <a:chOff x="0" y="0"/>
            <a:chExt cx="938784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3878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B7F7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Outliers?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0" y="3436620"/>
            <a:ext cx="704088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No extreme outliers by the 1.5×IQR rule (upper fence 330 min). But 4 students (240–300 min) are more than 2σ above the mean.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3143" y="5930903"/>
            <a:ext cx="7797803" cy="3134363"/>
            <a:chOff x="0" y="0"/>
            <a:chExt cx="10397071" cy="4179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97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71600" y="6163056"/>
            <a:ext cx="7040880" cy="640080"/>
            <a:chOff x="0" y="0"/>
            <a:chExt cx="938784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3878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B7F7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the shape implies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71600" y="6819900"/>
            <a:ext cx="704088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Most students make short visits, while a smaller group stays for hours. The distribution is only roughly bell-shaped.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22743" y="5930903"/>
            <a:ext cx="7797803" cy="3134363"/>
            <a:chOff x="0" y="0"/>
            <a:chExt cx="10397071" cy="4179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97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0" y="6163056"/>
            <a:ext cx="7040880" cy="640080"/>
            <a:chOff x="0" y="0"/>
            <a:chExt cx="938784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3878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B7F7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 it is not fully normal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01200" y="6819900"/>
            <a:ext cx="704088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Time cannot be negative, and there is a hard floor near 0, so long visits stretch the right tail.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Who Stays Longer?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6276320" cy="640080"/>
            <a:chOff x="0" y="0"/>
            <a:chExt cx="2170176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853440"/>
            </a:xfrm>
            <a:custGeom>
              <a:avLst/>
              <a:gdLst/>
              <a:ahLst/>
              <a:cxnLst/>
              <a:rect r="r" b="b" t="t" l="l"/>
              <a:pathLst>
                <a:path h="8534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476" r="0" b="-4454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1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minutes per visit by reason and by year level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6576" y="1609344"/>
            <a:ext cx="10314432" cy="848563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14816" y="1682496"/>
            <a:ext cx="9436608" cy="8339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276320" cy="1097280"/>
            <a:chOff x="0" y="0"/>
            <a:chExt cx="2170176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Implications and Recommendations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3143" y="2364743"/>
            <a:ext cx="1122683" cy="1122683"/>
            <a:chOff x="0" y="0"/>
            <a:chExt cx="1496911" cy="14969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377440"/>
            <a:ext cx="1097280" cy="1097280"/>
            <a:chOff x="0" y="0"/>
            <a:chExt cx="14630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60320" y="2194560"/>
            <a:ext cx="14630400" cy="640080"/>
            <a:chOff x="0" y="0"/>
            <a:chExt cx="195072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950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Plan for two kinds of visitors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60320" y="2823591"/>
            <a:ext cx="146304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Most visits are about 30–60 minutes, but many stay 2–3+ hours. Seating and quiet zones should support both.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3143" y="4284983"/>
            <a:ext cx="1122683" cy="1122683"/>
            <a:chOff x="0" y="0"/>
            <a:chExt cx="1496911" cy="1496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5840" y="4297680"/>
            <a:ext cx="1097280" cy="1097280"/>
            <a:chOff x="0" y="0"/>
            <a:chExt cx="14630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60320" y="4114800"/>
            <a:ext cx="14630400" cy="640080"/>
            <a:chOff x="0" y="0"/>
            <a:chExt cx="195072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950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 comfortable rest and computer areas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560320" y="4743831"/>
            <a:ext cx="146304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Resting and computer use have the longest average stays (about 110–115 min), so these areas are in high demand.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3143" y="6205223"/>
            <a:ext cx="1122683" cy="1122683"/>
            <a:chOff x="0" y="0"/>
            <a:chExt cx="1496911" cy="14969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1B7F79"/>
            </a:solidFill>
            <a:ln w="25400" cap="sq">
              <a:solidFill>
                <a:srgbClr val="1B7F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05840" y="6217920"/>
            <a:ext cx="1097280" cy="1097280"/>
            <a:chOff x="0" y="0"/>
            <a:chExt cx="146304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560320" y="6035040"/>
            <a:ext cx="14630400" cy="640080"/>
            <a:chOff x="0" y="0"/>
            <a:chExt cx="1950720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950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Prepare for upper-year demand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560320" y="6664071"/>
            <a:ext cx="146304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3rd and 4th years stay about 105 minutes on average, so expect heavier use as thesis season approaches.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3143" y="8125463"/>
            <a:ext cx="1122683" cy="1122683"/>
            <a:chOff x="0" y="0"/>
            <a:chExt cx="1496911" cy="14969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8138160"/>
            <a:ext cx="1097280" cy="1097280"/>
            <a:chOff x="0" y="0"/>
            <a:chExt cx="146304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560320" y="7955280"/>
            <a:ext cx="14630400" cy="640080"/>
            <a:chOff x="0" y="0"/>
            <a:chExt cx="1950720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950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4213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Plan around the typical, not the average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560320" y="8584311"/>
            <a:ext cx="146304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Because the data is skewed, use the median (60 min) for quick-service planning such as printing queues.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914400"/>
            <a:ext cx="15727680" cy="1280160"/>
            <a:chOff x="0" y="0"/>
            <a:chExt cx="2097024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97024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Takeaways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0160" y="2676525"/>
            <a:ext cx="15727680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E5ECF2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visit: 93 min (σ = 72 min); typical visit: 60 min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E5ECF2"/>
                </a:solidFill>
                <a:latin typeface="Calibri (MS)"/>
                <a:ea typeface="Calibri (MS)"/>
                <a:cs typeface="Calibri (MS)"/>
                <a:sym typeface="Calibri (MS)"/>
              </a:rPr>
              <a:t>78% / 92% / 100% of students fall within 1σ / 2σ / 3σ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E5ECF2"/>
                </a:solidFill>
                <a:latin typeface="Calibri (MS)"/>
                <a:ea typeface="Calibri (MS)"/>
                <a:cs typeface="Calibri (MS)"/>
                <a:sym typeface="Calibri (MS)"/>
              </a:rPr>
              <a:t>The distribution is right-skewed, so it is only approximately normal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E5ECF2"/>
                </a:solidFill>
                <a:latin typeface="Calibri (MS)"/>
                <a:ea typeface="Calibri (MS)"/>
                <a:cs typeface="Calibri (MS)"/>
                <a:sym typeface="Calibri (MS)"/>
              </a:rPr>
              <a:t>Resting, computer use and upper-year students account for the longest stays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67463" y="8034023"/>
            <a:ext cx="1671323" cy="171707"/>
            <a:chOff x="0" y="0"/>
            <a:chExt cx="2228431" cy="2289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8469" cy="228981"/>
            </a:xfrm>
            <a:custGeom>
              <a:avLst/>
              <a:gdLst/>
              <a:ahLst/>
              <a:cxnLst/>
              <a:rect r="r" b="b" t="t" l="l"/>
              <a:pathLst>
                <a:path h="228981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F2A541"/>
            </a:solidFill>
            <a:ln w="25400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80160" y="8321040"/>
            <a:ext cx="14630400" cy="914400"/>
            <a:chOff x="0" y="0"/>
            <a:chExt cx="19507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5072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F2A541"/>
                  </a:solidFill>
                  <a:latin typeface="Georgia"/>
                  <a:ea typeface="Georgia"/>
                  <a:cs typeface="Georgia"/>
                  <a:sym typeface="Georgia"/>
                </a:rPr>
                <a:t>Thank you!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DAHXbX5igTo</dc:identifier>
  <dcterms:modified xsi:type="dcterms:W3CDTF">2011-08-01T06:04:30Z</dcterms:modified>
  <cp:revision>1</cp:revision>
  <dc:title>APM-1110 | Group Project | n = 50 students</dc:title>
</cp:coreProperties>
</file>